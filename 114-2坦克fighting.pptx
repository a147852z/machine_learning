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63" r:id="rId4"/>
    <p:sldId id="258" r:id="rId5"/>
    <p:sldId id="262" r:id="rId6"/>
    <p:sldId id="261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34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9575E-4031-488E-9460-E7913FE069FD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0EAF47-8A3C-4AF1-B84C-F26D1B307D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572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2998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3230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557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3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0113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0137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4255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004B302-8167-434D-9FEA-932B89CEE156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8603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7414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543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7529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004B302-8167-434D-9FEA-932B89CEE156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219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7D379150-F6B4-45C8-BE10-6B278AD40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FFCF544-A370-4A5D-A95F-CA6E0E7191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EEB3B97-A638-498B-8083-54191CE71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3B5661B-665A-99BB-1718-184626BB44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2370" y="516835"/>
            <a:ext cx="3084844" cy="210387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3600" dirty="0">
                <a:solidFill>
                  <a:srgbClr val="FFFFFF"/>
                </a:solidFill>
              </a:rPr>
              <a:t>Tank Fighting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FB4E6A8-20BB-9CE2-132F-6D7DB7AC3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2371" y="2653800"/>
            <a:ext cx="3084844" cy="3335519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zh-TW" altLang="en-US" sz="1500" dirty="0">
                <a:solidFill>
                  <a:srgbClr val="FFFFFF"/>
                </a:solidFill>
                <a:latin typeface="+mn-lt"/>
              </a:rPr>
              <a:t>指導教授 </a:t>
            </a:r>
            <a:r>
              <a:rPr lang="en-US" altLang="zh-TW" sz="1500" dirty="0">
                <a:solidFill>
                  <a:srgbClr val="FFFFFF"/>
                </a:solidFill>
                <a:latin typeface="+mn-lt"/>
              </a:rPr>
              <a:t>: </a:t>
            </a:r>
            <a:r>
              <a:rPr lang="zh-TW" altLang="en-US" sz="1500" dirty="0">
                <a:solidFill>
                  <a:srgbClr val="FFFFFF"/>
                </a:solidFill>
                <a:latin typeface="+mn-lt"/>
              </a:rPr>
              <a:t>陳朝烈 教授</a:t>
            </a:r>
            <a:endParaRPr lang="en-US" altLang="zh-TW" sz="1500" dirty="0">
              <a:solidFill>
                <a:srgbClr val="FFFFFF"/>
              </a:solidFill>
              <a:latin typeface="+mn-lt"/>
            </a:endParaRPr>
          </a:p>
          <a:p>
            <a:endParaRPr lang="en-US" altLang="zh-TW" sz="1500" dirty="0">
              <a:solidFill>
                <a:srgbClr val="FFFFFF"/>
              </a:solidFill>
              <a:latin typeface="+mn-lt"/>
            </a:endParaRPr>
          </a:p>
          <a:p>
            <a:r>
              <a:rPr lang="zh-TW" altLang="en-US" sz="1500" dirty="0">
                <a:solidFill>
                  <a:srgbClr val="FFFFFF"/>
                </a:solidFill>
                <a:latin typeface="+mn-lt"/>
              </a:rPr>
              <a:t>組長 </a:t>
            </a:r>
            <a:r>
              <a:rPr lang="en-US" altLang="zh-TW" sz="1500" dirty="0">
                <a:solidFill>
                  <a:srgbClr val="FFFFFF"/>
                </a:solidFill>
                <a:latin typeface="+mn-lt"/>
              </a:rPr>
              <a:t>: </a:t>
            </a:r>
            <a:r>
              <a:rPr lang="zh-TW" altLang="en-US" sz="1500" dirty="0">
                <a:solidFill>
                  <a:srgbClr val="FFFFFF"/>
                </a:solidFill>
                <a:latin typeface="+mn-lt"/>
              </a:rPr>
              <a:t>余立凱</a:t>
            </a:r>
            <a:endParaRPr lang="en-US" altLang="zh-TW" sz="1500" dirty="0">
              <a:solidFill>
                <a:srgbClr val="FFFFFF"/>
              </a:solidFill>
              <a:latin typeface="+mn-lt"/>
            </a:endParaRPr>
          </a:p>
          <a:p>
            <a:r>
              <a:rPr lang="zh-TW" altLang="en-US" sz="1500" dirty="0">
                <a:solidFill>
                  <a:srgbClr val="FFFFFF"/>
                </a:solidFill>
                <a:latin typeface="+mn-lt"/>
              </a:rPr>
              <a:t>組員 </a:t>
            </a:r>
            <a:r>
              <a:rPr lang="en-US" altLang="zh-TW" sz="1500" dirty="0">
                <a:solidFill>
                  <a:srgbClr val="FFFFFF"/>
                </a:solidFill>
                <a:latin typeface="+mn-lt"/>
              </a:rPr>
              <a:t>: </a:t>
            </a:r>
            <a:r>
              <a:rPr lang="zh-TW" altLang="en-US" sz="1500" dirty="0">
                <a:solidFill>
                  <a:srgbClr val="FFFFFF"/>
                </a:solidFill>
                <a:latin typeface="+mn-lt"/>
              </a:rPr>
              <a:t>康佳元</a:t>
            </a:r>
            <a:endParaRPr lang="en-US" altLang="zh-TW" sz="1500" dirty="0">
              <a:solidFill>
                <a:srgbClr val="FFFFFF"/>
              </a:solidFill>
              <a:latin typeface="+mn-lt"/>
            </a:endParaRPr>
          </a:p>
          <a:p>
            <a:endParaRPr lang="en-US" altLang="zh-TW" sz="1500" dirty="0">
              <a:solidFill>
                <a:srgbClr val="FFFFFF"/>
              </a:solidFill>
              <a:latin typeface="+mn-lt"/>
            </a:endParaRPr>
          </a:p>
          <a:p>
            <a:endParaRPr lang="en-US" altLang="zh-TW" sz="15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1DA1E1-CB1A-439A-16B6-80CB4716B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0145" y="1324667"/>
            <a:ext cx="7675555" cy="433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71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966A8D-A1C8-2A1A-B6A4-4019A2D22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/>
              <a:t>需求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6657FF-7C4C-D11E-C2D1-163F66B44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功能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dirty="0"/>
              <a:t>控制坦克車進行移動</a:t>
            </a:r>
            <a:endParaRPr lang="en-US" altLang="zh-TW" dirty="0"/>
          </a:p>
          <a:p>
            <a:pPr lvl="1"/>
            <a:r>
              <a:rPr lang="zh-TW" altLang="en-US" dirty="0"/>
              <a:t>能發射砲彈</a:t>
            </a:r>
            <a:endParaRPr lang="en-US" altLang="zh-TW" dirty="0"/>
          </a:p>
          <a:p>
            <a:pPr lvl="1"/>
            <a:r>
              <a:rPr lang="zh-TW" altLang="en-US" dirty="0"/>
              <a:t>閃躲</a:t>
            </a:r>
            <a:endParaRPr lang="en-US" altLang="zh-TW" dirty="0"/>
          </a:p>
          <a:p>
            <a:pPr lvl="1"/>
            <a:r>
              <a:rPr lang="zh-TW" altLang="en-US" dirty="0"/>
              <a:t>追蹤燃油或彈藥箱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系統</a:t>
            </a:r>
            <a:r>
              <a:rPr lang="en-US" altLang="zh-TW" dirty="0"/>
              <a:t>:</a:t>
            </a:r>
          </a:p>
          <a:p>
            <a:r>
              <a:rPr lang="en-US" altLang="zh-TW" dirty="0"/>
              <a:t>Window10</a:t>
            </a:r>
            <a:r>
              <a:rPr lang="zh-TW" altLang="en-US" dirty="0"/>
              <a:t>、</a:t>
            </a:r>
            <a:r>
              <a:rPr lang="en-US" altLang="zh-TW" dirty="0"/>
              <a:t>11</a:t>
            </a:r>
          </a:p>
          <a:p>
            <a:r>
              <a:rPr lang="en-US" altLang="zh-TW" dirty="0"/>
              <a:t>Python3.12 ~ 3.14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9BCB5A-571C-477D-D0B4-0F8F345BD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3147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ACAEE4-FDDD-47CB-9DBD-3243115FA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介面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359EED-8DB1-4228-B128-8D16DC4C9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限制</a:t>
            </a:r>
            <a:endParaRPr lang="en-US" altLang="zh-TW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螢幕大小 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1000 x 600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。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單元格 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25 x 25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，可放置一個物件。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56707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91C6D3-B692-83C9-92EF-FD173EEB0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Breakdown</a:t>
            </a:r>
            <a:endParaRPr lang="zh-TW" altLang="en-US" dirty="0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E79B3F54-103C-5612-8387-B0A002B902E8}"/>
              </a:ext>
            </a:extLst>
          </p:cNvPr>
          <p:cNvSpPr/>
          <p:nvPr/>
        </p:nvSpPr>
        <p:spPr>
          <a:xfrm>
            <a:off x="5221317" y="1737360"/>
            <a:ext cx="1992285" cy="803563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Tank fighting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F88D577-1E1D-5032-0EC3-D506E49C56FA}"/>
              </a:ext>
            </a:extLst>
          </p:cNvPr>
          <p:cNvSpPr/>
          <p:nvPr/>
        </p:nvSpPr>
        <p:spPr>
          <a:xfrm>
            <a:off x="5221317" y="3027217"/>
            <a:ext cx="1992285" cy="803563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遊戲規則</a:t>
            </a:r>
            <a:endParaRPr lang="en-US" altLang="zh-TW" dirty="0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9484A1C8-3C27-6AA6-11A3-E486C3569B35}"/>
              </a:ext>
            </a:extLst>
          </p:cNvPr>
          <p:cNvSpPr/>
          <p:nvPr/>
        </p:nvSpPr>
        <p:spPr>
          <a:xfrm>
            <a:off x="1050034" y="3057244"/>
            <a:ext cx="1992285" cy="803563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物件</a:t>
            </a:r>
            <a:endParaRPr lang="en-US" altLang="zh-TW" dirty="0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EA1D1E85-DDB5-6AD2-150D-9EB57F4781B8}"/>
              </a:ext>
            </a:extLst>
          </p:cNvPr>
          <p:cNvSpPr/>
          <p:nvPr/>
        </p:nvSpPr>
        <p:spPr>
          <a:xfrm>
            <a:off x="9095969" y="3045693"/>
            <a:ext cx="1992285" cy="803563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action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BF45171-C4A6-CBEB-397D-1A61B89A8110}"/>
              </a:ext>
            </a:extLst>
          </p:cNvPr>
          <p:cNvSpPr/>
          <p:nvPr/>
        </p:nvSpPr>
        <p:spPr>
          <a:xfrm>
            <a:off x="2047588" y="4576629"/>
            <a:ext cx="1185950" cy="53016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tank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7907F03F-8BC4-573D-9871-0F7018E4479F}"/>
              </a:ext>
            </a:extLst>
          </p:cNvPr>
          <p:cNvSpPr/>
          <p:nvPr/>
        </p:nvSpPr>
        <p:spPr>
          <a:xfrm>
            <a:off x="603410" y="4590470"/>
            <a:ext cx="1373692" cy="530163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ammunition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09D9E5B7-E25C-AC14-A7CD-EE166864E89C}"/>
              </a:ext>
            </a:extLst>
          </p:cNvPr>
          <p:cNvSpPr/>
          <p:nvPr/>
        </p:nvSpPr>
        <p:spPr>
          <a:xfrm>
            <a:off x="1" y="4590473"/>
            <a:ext cx="525554" cy="530162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oil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23511340-3241-56F8-BC29-9BBADB1C9236}"/>
              </a:ext>
            </a:extLst>
          </p:cNvPr>
          <p:cNvSpPr/>
          <p:nvPr/>
        </p:nvSpPr>
        <p:spPr>
          <a:xfrm>
            <a:off x="6620626" y="4325391"/>
            <a:ext cx="1775830" cy="59201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擊中敵人</a:t>
            </a:r>
            <a:r>
              <a:rPr lang="en-US" altLang="zh-TW" dirty="0"/>
              <a:t>+20</a:t>
            </a:r>
            <a:r>
              <a:rPr lang="zh-TW" altLang="en-US" dirty="0"/>
              <a:t>分</a:t>
            </a:r>
            <a:endParaRPr lang="en-US" altLang="zh-TW" dirty="0"/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A67FEBA6-7947-6153-710F-8B9C4036C005}"/>
              </a:ext>
            </a:extLst>
          </p:cNvPr>
          <p:cNvSpPr/>
          <p:nvPr/>
        </p:nvSpPr>
        <p:spPr>
          <a:xfrm>
            <a:off x="4419463" y="4334624"/>
            <a:ext cx="1733664" cy="53016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擊中牆壁</a:t>
            </a:r>
            <a:r>
              <a:rPr lang="en-US" altLang="zh-TW" dirty="0"/>
              <a:t>+1</a:t>
            </a:r>
            <a:r>
              <a:rPr lang="zh-TW" altLang="en-US" dirty="0"/>
              <a:t>分</a:t>
            </a:r>
            <a:endParaRPr lang="en-US" altLang="zh-TW" dirty="0"/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794949EB-2454-C585-9CE4-ECBC1BDFCC6C}"/>
              </a:ext>
            </a:extLst>
          </p:cNvPr>
          <p:cNvSpPr/>
          <p:nvPr/>
        </p:nvSpPr>
        <p:spPr>
          <a:xfrm>
            <a:off x="8648005" y="4325391"/>
            <a:ext cx="1364213" cy="53016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移動戰車</a:t>
            </a:r>
            <a:endParaRPr lang="en-US" altLang="zh-TW" dirty="0"/>
          </a:p>
        </p:txBody>
      </p: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406AF3E0-C834-0C01-85E2-850BB156E9BB}"/>
              </a:ext>
            </a:extLst>
          </p:cNvPr>
          <p:cNvCxnSpPr>
            <a:cxnSpLocks/>
          </p:cNvCxnSpPr>
          <p:nvPr/>
        </p:nvCxnSpPr>
        <p:spPr>
          <a:xfrm flipV="1">
            <a:off x="2046177" y="2687782"/>
            <a:ext cx="8073643" cy="300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5CD79C35-76D8-CB3B-A99A-594F9E0E1235}"/>
              </a:ext>
            </a:extLst>
          </p:cNvPr>
          <p:cNvCxnSpPr>
            <a:stCxn id="8" idx="0"/>
            <a:endCxn id="4" idx="2"/>
          </p:cNvCxnSpPr>
          <p:nvPr/>
        </p:nvCxnSpPr>
        <p:spPr>
          <a:xfrm flipV="1">
            <a:off x="6217460" y="2540923"/>
            <a:ext cx="0" cy="4862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663FC469-E574-2D28-152E-D9D81411CB38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2046177" y="2717809"/>
            <a:ext cx="0" cy="3394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935C5FE5-EB1B-273F-1578-A5CEE775892D}"/>
              </a:ext>
            </a:extLst>
          </p:cNvPr>
          <p:cNvCxnSpPr>
            <a:cxnSpLocks/>
          </p:cNvCxnSpPr>
          <p:nvPr/>
        </p:nvCxnSpPr>
        <p:spPr>
          <a:xfrm>
            <a:off x="10119820" y="2687782"/>
            <a:ext cx="0" cy="3394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94156A82-0F3B-2BDA-D10B-D839FE1C1CC9}"/>
              </a:ext>
            </a:extLst>
          </p:cNvPr>
          <p:cNvCxnSpPr>
            <a:cxnSpLocks/>
          </p:cNvCxnSpPr>
          <p:nvPr/>
        </p:nvCxnSpPr>
        <p:spPr>
          <a:xfrm flipV="1">
            <a:off x="1289796" y="4199312"/>
            <a:ext cx="0" cy="4119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D4360974-0C77-C0C3-3B47-C3354B0D3929}"/>
              </a:ext>
            </a:extLst>
          </p:cNvPr>
          <p:cNvCxnSpPr>
            <a:cxnSpLocks/>
          </p:cNvCxnSpPr>
          <p:nvPr/>
        </p:nvCxnSpPr>
        <p:spPr>
          <a:xfrm flipV="1">
            <a:off x="262778" y="4196783"/>
            <a:ext cx="3566799" cy="103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246A141B-765D-B865-3836-E55023E8EADF}"/>
              </a:ext>
            </a:extLst>
          </p:cNvPr>
          <p:cNvCxnSpPr>
            <a:endCxn id="11" idx="0"/>
          </p:cNvCxnSpPr>
          <p:nvPr/>
        </p:nvCxnSpPr>
        <p:spPr>
          <a:xfrm>
            <a:off x="2640563" y="4196783"/>
            <a:ext cx="0" cy="3798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4D7AE7FF-1787-8C8A-6DD2-0B78AC42ADCE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262778" y="4207168"/>
            <a:ext cx="0" cy="3833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C60F01B7-85B1-01DA-2DB9-A73218273BF8}"/>
              </a:ext>
            </a:extLst>
          </p:cNvPr>
          <p:cNvCxnSpPr>
            <a:cxnSpLocks/>
          </p:cNvCxnSpPr>
          <p:nvPr/>
        </p:nvCxnSpPr>
        <p:spPr>
          <a:xfrm>
            <a:off x="5221317" y="4064000"/>
            <a:ext cx="2266140" cy="92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96030242-EE25-98CD-53E1-EEFD1C11DA9C}"/>
              </a:ext>
            </a:extLst>
          </p:cNvPr>
          <p:cNvCxnSpPr/>
          <p:nvPr/>
        </p:nvCxnSpPr>
        <p:spPr>
          <a:xfrm>
            <a:off x="5221317" y="4073236"/>
            <a:ext cx="0" cy="252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6345C951-596C-FE14-712B-7DFE1DE26173}"/>
              </a:ext>
            </a:extLst>
          </p:cNvPr>
          <p:cNvCxnSpPr>
            <a:stCxn id="8" idx="2"/>
          </p:cNvCxnSpPr>
          <p:nvPr/>
        </p:nvCxnSpPr>
        <p:spPr>
          <a:xfrm flipH="1">
            <a:off x="6217459" y="3830780"/>
            <a:ext cx="1" cy="2424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CD7FB5A6-A01B-4B9C-2E37-AF2386311208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7508540" y="4064000"/>
            <a:ext cx="1" cy="2613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9F326D-D763-E98B-A560-1AA494028B5A}"/>
              </a:ext>
            </a:extLst>
          </p:cNvPr>
          <p:cNvCxnSpPr>
            <a:cxnSpLocks/>
          </p:cNvCxnSpPr>
          <p:nvPr/>
        </p:nvCxnSpPr>
        <p:spPr>
          <a:xfrm flipH="1">
            <a:off x="9113338" y="4105799"/>
            <a:ext cx="22715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: 圓角 52">
            <a:extLst>
              <a:ext uri="{FF2B5EF4-FFF2-40B4-BE49-F238E27FC236}">
                <a16:creationId xmlns:a16="http://schemas.microsoft.com/office/drawing/2014/main" id="{9D3FC2DF-6B86-82AF-51C3-794830768571}"/>
              </a:ext>
            </a:extLst>
          </p:cNvPr>
          <p:cNvSpPr/>
          <p:nvPr/>
        </p:nvSpPr>
        <p:spPr>
          <a:xfrm>
            <a:off x="5350627" y="5063381"/>
            <a:ext cx="1733663" cy="38421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打破牆壁</a:t>
            </a:r>
            <a:r>
              <a:rPr lang="en-US" altLang="zh-TW" dirty="0"/>
              <a:t>+5</a:t>
            </a:r>
            <a:r>
              <a:rPr lang="zh-TW" altLang="en-US" dirty="0"/>
              <a:t>分</a:t>
            </a:r>
            <a:endParaRPr lang="en-US" altLang="zh-TW" dirty="0"/>
          </a:p>
        </p:txBody>
      </p:sp>
      <p:cxnSp>
        <p:nvCxnSpPr>
          <p:cNvPr id="55" name="直線接點 54">
            <a:extLst>
              <a:ext uri="{FF2B5EF4-FFF2-40B4-BE49-F238E27FC236}">
                <a16:creationId xmlns:a16="http://schemas.microsoft.com/office/drawing/2014/main" id="{89665C72-B3C6-6583-0E7A-79B9358F10BC}"/>
              </a:ext>
            </a:extLst>
          </p:cNvPr>
          <p:cNvCxnSpPr/>
          <p:nvPr/>
        </p:nvCxnSpPr>
        <p:spPr>
          <a:xfrm>
            <a:off x="6217459" y="4064000"/>
            <a:ext cx="0" cy="1320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4FCE9464-347C-49B0-1D70-412512512D37}"/>
              </a:ext>
            </a:extLst>
          </p:cNvPr>
          <p:cNvSpPr/>
          <p:nvPr/>
        </p:nvSpPr>
        <p:spPr>
          <a:xfrm>
            <a:off x="3304024" y="4599706"/>
            <a:ext cx="1051107" cy="530162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obstacle</a:t>
            </a:r>
          </a:p>
        </p:txBody>
      </p:sp>
      <p:cxnSp>
        <p:nvCxnSpPr>
          <p:cNvPr id="68" name="直線接點 67">
            <a:extLst>
              <a:ext uri="{FF2B5EF4-FFF2-40B4-BE49-F238E27FC236}">
                <a16:creationId xmlns:a16="http://schemas.microsoft.com/office/drawing/2014/main" id="{E7A691FF-8A76-A85F-C1CC-4FE22959E4C4}"/>
              </a:ext>
            </a:extLst>
          </p:cNvPr>
          <p:cNvCxnSpPr/>
          <p:nvPr/>
        </p:nvCxnSpPr>
        <p:spPr>
          <a:xfrm>
            <a:off x="3829577" y="4231414"/>
            <a:ext cx="0" cy="3798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>
            <a:extLst>
              <a:ext uri="{FF2B5EF4-FFF2-40B4-BE49-F238E27FC236}">
                <a16:creationId xmlns:a16="http://schemas.microsoft.com/office/drawing/2014/main" id="{050FF46D-3A75-81C7-09CB-EA0B4AEFC82F}"/>
              </a:ext>
            </a:extLst>
          </p:cNvPr>
          <p:cNvCxnSpPr>
            <a:cxnSpLocks/>
          </p:cNvCxnSpPr>
          <p:nvPr/>
        </p:nvCxnSpPr>
        <p:spPr>
          <a:xfrm>
            <a:off x="2046177" y="3867733"/>
            <a:ext cx="0" cy="3394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: 圓角 75">
            <a:extLst>
              <a:ext uri="{FF2B5EF4-FFF2-40B4-BE49-F238E27FC236}">
                <a16:creationId xmlns:a16="http://schemas.microsoft.com/office/drawing/2014/main" id="{DDE09452-C5C7-7815-8DC3-44546E553117}"/>
              </a:ext>
            </a:extLst>
          </p:cNvPr>
          <p:cNvSpPr/>
          <p:nvPr/>
        </p:nvSpPr>
        <p:spPr>
          <a:xfrm>
            <a:off x="10694325" y="4311547"/>
            <a:ext cx="1364213" cy="53016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射擊</a:t>
            </a:r>
            <a:endParaRPr lang="en-US" altLang="zh-TW" dirty="0"/>
          </a:p>
        </p:txBody>
      </p: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A2EF0F8B-D6DC-B856-3B0D-CB48A173FBD6}"/>
              </a:ext>
            </a:extLst>
          </p:cNvPr>
          <p:cNvCxnSpPr/>
          <p:nvPr/>
        </p:nvCxnSpPr>
        <p:spPr>
          <a:xfrm>
            <a:off x="9113338" y="4105799"/>
            <a:ext cx="0" cy="252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EEC41729-D460-C436-62FF-93DE45736173}"/>
              </a:ext>
            </a:extLst>
          </p:cNvPr>
          <p:cNvCxnSpPr>
            <a:cxnSpLocks/>
          </p:cNvCxnSpPr>
          <p:nvPr/>
        </p:nvCxnSpPr>
        <p:spPr>
          <a:xfrm flipH="1">
            <a:off x="11376431" y="4105799"/>
            <a:ext cx="6761" cy="2121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B354F0D2-4B3D-DCC9-96C4-5C5C2FE39D18}"/>
              </a:ext>
            </a:extLst>
          </p:cNvPr>
          <p:cNvCxnSpPr>
            <a:cxnSpLocks/>
          </p:cNvCxnSpPr>
          <p:nvPr/>
        </p:nvCxnSpPr>
        <p:spPr>
          <a:xfrm>
            <a:off x="10092111" y="3849256"/>
            <a:ext cx="0" cy="2565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1949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A09CB1-3BFC-74E9-4CAD-9C0E07EC7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Model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0735A1-953E-A8A8-3381-90CB075F4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618" y="1887695"/>
            <a:ext cx="1507861" cy="1357530"/>
          </a:xfrm>
          <a:ln>
            <a:solidFill>
              <a:srgbClr val="FF0000"/>
            </a:solidFill>
          </a:ln>
        </p:spPr>
        <p:txBody>
          <a:bodyPr>
            <a:normAutofit/>
          </a:bodyPr>
          <a:lstStyle/>
          <a:p>
            <a:r>
              <a:rPr lang="en-US" altLang="zh-TW" dirty="0"/>
              <a:t>Q-learning</a:t>
            </a:r>
          </a:p>
          <a:p>
            <a:r>
              <a:rPr lang="en-US" altLang="zh-TW" dirty="0"/>
              <a:t>For reward</a:t>
            </a:r>
          </a:p>
          <a:p>
            <a:r>
              <a:rPr lang="en-US" altLang="zh-TW" dirty="0"/>
              <a:t>Q-table</a:t>
            </a:r>
          </a:p>
          <a:p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592A35F1-CEE3-497C-81AE-FBB2DA97F4EA}"/>
                  </a:ext>
                </a:extLst>
              </p:cNvPr>
              <p:cNvSpPr txBox="1"/>
              <p:nvPr/>
            </p:nvSpPr>
            <p:spPr>
              <a:xfrm>
                <a:off x="3266739" y="1945341"/>
                <a:ext cx="6782696" cy="3860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p>
                          <m:r>
                            <a:rPr lang="zh-TW" altLang="en-US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ba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+3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+4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+…|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592A35F1-CEE3-497C-81AE-FBB2DA97F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6739" y="1945341"/>
                <a:ext cx="6782696" cy="386068"/>
              </a:xfrm>
              <a:prstGeom prst="rect">
                <a:avLst/>
              </a:prstGeom>
              <a:blipFill>
                <a:blip r:embed="rId2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1FAC966E-0318-42B5-A073-A8567653869C}"/>
                  </a:ext>
                </a:extLst>
              </p:cNvPr>
              <p:cNvSpPr txBox="1"/>
              <p:nvPr/>
            </p:nvSpPr>
            <p:spPr>
              <a:xfrm>
                <a:off x="2450949" y="2652407"/>
                <a:ext cx="8414273" cy="37876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TW" dirty="0"/>
                  <a:t>A : Q-values for the state given a particular state and action</a:t>
                </a:r>
                <a:r>
                  <a:rPr lang="zh-TW" altLang="en-US" dirty="0"/>
                  <a:t>：</a:t>
                </a:r>
                <a:r>
                  <a:rPr lang="en-US" altLang="zh-TW" dirty="0"/>
                  <a:t>Q </a:t>
                </a:r>
                <a:r>
                  <a:rPr lang="zh-TW" altLang="en-US" dirty="0"/>
                  <a:t>值是對某一特定狀態和行動對的評估。</a:t>
                </a:r>
                <a:r>
                  <a:rPr lang="en-US" altLang="zh-TW" dirty="0"/>
                  <a:t>Q </a:t>
                </a:r>
                <a:r>
                  <a:rPr lang="zh-TW" altLang="en-US" dirty="0"/>
                  <a:t>函數指在當前狀態下執行某個行動後，整體的預期回報是多少。</a:t>
                </a:r>
                <a:endParaRPr lang="en-US" altLang="zh-TW" dirty="0"/>
              </a:p>
              <a:p>
                <a:pPr>
                  <a:lnSpc>
                    <a:spcPct val="150000"/>
                  </a:lnSpc>
                </a:pPr>
                <a:endParaRPr lang="en-US" altLang="zh-TW" dirty="0"/>
              </a:p>
              <a:p>
                <a:pPr>
                  <a:lnSpc>
                    <a:spcPct val="150000"/>
                  </a:lnSpc>
                </a:pPr>
                <a:r>
                  <a:rPr lang="en-US" altLang="zh-TW" dirty="0"/>
                  <a:t>B : Expected discounted cumulative reward</a:t>
                </a:r>
                <a:r>
                  <a:rPr lang="zh-TW" altLang="en-US" dirty="0"/>
                  <a:t>： 描述</a:t>
                </a:r>
                <a:r>
                  <a:rPr lang="en-US" altLang="zh-TW" dirty="0"/>
                  <a:t>Q </a:t>
                </a:r>
                <a:r>
                  <a:rPr lang="zh-TW" altLang="en-US" dirty="0"/>
                  <a:t>值是根據將來所有獲得的回報來計算的，這些回報會按照折扣因子</a:t>
                </a:r>
                <a14:m>
                  <m:oMath xmlns:m="http://schemas.openxmlformats.org/officeDocument/2006/math">
                    <m:r>
                      <a:rPr lang="zh-TW" altLang="en-US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zh-TW" altLang="en-US" dirty="0"/>
                  <a:t>進行加權。隨著時間的推移，未來的回報會變得不那麼重要，這也是為什麼會有折扣因子的原因。</a:t>
                </a:r>
                <a:endParaRPr lang="en-US" altLang="zh-TW" dirty="0"/>
              </a:p>
              <a:p>
                <a:pPr>
                  <a:lnSpc>
                    <a:spcPct val="150000"/>
                  </a:lnSpc>
                </a:pPr>
                <a:endParaRPr lang="en-US" altLang="zh-TW" dirty="0"/>
              </a:p>
              <a:p>
                <a:pPr>
                  <a:lnSpc>
                    <a:spcPct val="150000"/>
                  </a:lnSpc>
                </a:pPr>
                <a:r>
                  <a:rPr lang="en-US" altLang="zh-TW" dirty="0"/>
                  <a:t>C : Given the state and action</a:t>
                </a:r>
                <a:r>
                  <a:rPr lang="zh-TW" altLang="en-US" dirty="0"/>
                  <a:t>：說明 </a:t>
                </a:r>
                <a:r>
                  <a:rPr lang="en-US" altLang="zh-TW" dirty="0"/>
                  <a:t>Q </a:t>
                </a:r>
                <a:r>
                  <a:rPr lang="zh-TW" altLang="en-US" dirty="0"/>
                  <a:t>值是基於當前的狀態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​ </a:t>
                </a:r>
                <a:r>
                  <a:rPr lang="zh-TW" altLang="en-US" dirty="0"/>
                  <a:t>和選擇的行動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en-US" dirty="0"/>
                  <a:t>計算出來的。</a:t>
                </a: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1FAC966E-0318-42B5-A073-A85676538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949" y="2652407"/>
                <a:ext cx="8414273" cy="3787640"/>
              </a:xfrm>
              <a:prstGeom prst="rect">
                <a:avLst/>
              </a:prstGeom>
              <a:blipFill>
                <a:blip r:embed="rId3"/>
                <a:stretch>
                  <a:fillRect l="-580" r="-652" b="-17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EA190567-6881-4851-93A8-D3240BD5A894}"/>
              </a:ext>
            </a:extLst>
          </p:cNvPr>
          <p:cNvSpPr txBox="1"/>
          <p:nvPr/>
        </p:nvSpPr>
        <p:spPr>
          <a:xfrm>
            <a:off x="3974948" y="2381794"/>
            <a:ext cx="412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A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8F04D29-598F-4CC1-8B1D-5FDDEC8DA71B}"/>
              </a:ext>
            </a:extLst>
          </p:cNvPr>
          <p:cNvSpPr txBox="1"/>
          <p:nvPr/>
        </p:nvSpPr>
        <p:spPr>
          <a:xfrm>
            <a:off x="6732493" y="2381794"/>
            <a:ext cx="412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B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09C6B19-7398-47D3-9E47-6E6B360FF77A}"/>
              </a:ext>
            </a:extLst>
          </p:cNvPr>
          <p:cNvSpPr txBox="1"/>
          <p:nvPr/>
        </p:nvSpPr>
        <p:spPr>
          <a:xfrm>
            <a:off x="9121588" y="2381794"/>
            <a:ext cx="412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C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66698C5D-71AF-499F-AB43-9D6747C36C15}"/>
              </a:ext>
            </a:extLst>
          </p:cNvPr>
          <p:cNvCxnSpPr/>
          <p:nvPr/>
        </p:nvCxnSpPr>
        <p:spPr>
          <a:xfrm>
            <a:off x="3711388" y="2331409"/>
            <a:ext cx="93233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75013420-3EB1-4450-A6B4-A209EA091094}"/>
              </a:ext>
            </a:extLst>
          </p:cNvPr>
          <p:cNvCxnSpPr>
            <a:cxnSpLocks/>
          </p:cNvCxnSpPr>
          <p:nvPr/>
        </p:nvCxnSpPr>
        <p:spPr>
          <a:xfrm>
            <a:off x="4948518" y="2331409"/>
            <a:ext cx="3980329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0BB3A394-AE56-4AF4-BCB5-485AD301BF9F}"/>
              </a:ext>
            </a:extLst>
          </p:cNvPr>
          <p:cNvCxnSpPr>
            <a:cxnSpLocks/>
          </p:cNvCxnSpPr>
          <p:nvPr/>
        </p:nvCxnSpPr>
        <p:spPr>
          <a:xfrm>
            <a:off x="9000565" y="2331409"/>
            <a:ext cx="654424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518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FD4A33-93DD-ACB1-48B5-9378D9998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驗收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3919649-1590-1E8A-9779-50BA3167C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TW" altLang="en-US" dirty="0"/>
              <a:t>根據需求進行單元測試，完成需求驗收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zh-TW" altLang="en-US" dirty="0"/>
              <a:t>驗收條件將確保每項功能都能夠穩定、準確地運行，從而提供優質的操作和高效的戰鬥能力。</a:t>
            </a:r>
            <a:endParaRPr lang="en-US" altLang="zh-TW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61160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30F88A-4443-44BA-834C-1153F18F3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 </a:t>
            </a:r>
            <a:r>
              <a:rPr lang="zh-TW" altLang="en-US" b="1" dirty="0"/>
              <a:t>控制坦克車進行移動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29FBD2-6BD2-41DC-BA72-9E99C10E4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70000"/>
              </a:lnSpc>
            </a:pPr>
            <a:r>
              <a:rPr lang="zh-TW" altLang="en-US" b="1" dirty="0"/>
              <a:t>功能描述：</a:t>
            </a:r>
            <a:br>
              <a:rPr lang="zh-TW" altLang="en-US" dirty="0"/>
            </a:br>
            <a:r>
              <a:rPr lang="zh-TW" altLang="en-US" dirty="0"/>
              <a:t>能夠控制坦克車進行各方向的移動，包括前進、後退、左右轉向。</a:t>
            </a:r>
          </a:p>
          <a:p>
            <a:pPr>
              <a:lnSpc>
                <a:spcPct val="170000"/>
              </a:lnSpc>
            </a:pPr>
            <a:r>
              <a:rPr lang="zh-TW" altLang="en-US" b="1" dirty="0"/>
              <a:t>驗收條件：</a:t>
            </a:r>
            <a:endParaRPr lang="zh-TW" altLang="en-US" dirty="0"/>
          </a:p>
          <a:p>
            <a:pPr lvl="1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TW" altLang="en-US" b="1" dirty="0"/>
              <a:t>移動精確度</a:t>
            </a:r>
            <a:r>
              <a:rPr lang="zh-TW" altLang="en-US" dirty="0"/>
              <a:t>：坦克車應能夠精確響應控制指令，無論是前進、後退、還是轉向，移動都應平滑且準確。</a:t>
            </a:r>
          </a:p>
          <a:p>
            <a:pPr lvl="1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TW" altLang="en-US" b="1" dirty="0"/>
              <a:t>反應時間</a:t>
            </a:r>
            <a:r>
              <a:rPr lang="zh-TW" altLang="en-US" dirty="0"/>
              <a:t>：在操作時，坦克車應即時做出反應，無顯著延遲。</a:t>
            </a:r>
          </a:p>
          <a:p>
            <a:pPr lvl="1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TW" altLang="en-US" b="1" dirty="0"/>
              <a:t>移動範圍</a:t>
            </a:r>
            <a:r>
              <a:rPr lang="zh-TW" altLang="en-US" dirty="0"/>
              <a:t>：坦克車應能夠在預定的地圖範圍內自由移動，且都應保持穩定性。</a:t>
            </a:r>
          </a:p>
          <a:p>
            <a:pPr lvl="1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TW" altLang="en-US" b="1" dirty="0"/>
              <a:t>控制精度</a:t>
            </a:r>
            <a:r>
              <a:rPr lang="zh-TW" altLang="en-US" dirty="0"/>
              <a:t>：控制系統應支持精確的操作，尤其是當希望坦克車做細微的移動調整時，操作應準確無誤。</a:t>
            </a:r>
          </a:p>
          <a:p>
            <a:pPr>
              <a:lnSpc>
                <a:spcPct val="170000"/>
              </a:lnSpc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3843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A2B81D-A62F-41AD-8B7C-21A320FA2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 </a:t>
            </a:r>
            <a:r>
              <a:rPr lang="zh-TW" altLang="en-US" b="1" dirty="0"/>
              <a:t>能發射砲彈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9DB414-2888-4745-AA90-614BE525C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60000"/>
              </a:lnSpc>
            </a:pPr>
            <a:r>
              <a:rPr lang="zh-TW" altLang="en-US" b="1" dirty="0"/>
              <a:t>功能描述：</a:t>
            </a:r>
            <a:br>
              <a:rPr lang="zh-TW" altLang="en-US" dirty="0"/>
            </a:br>
            <a:r>
              <a:rPr lang="zh-TW" altLang="en-US" dirty="0"/>
              <a:t>坦克車能夠發射砲彈，並且控制發射角度、目標指向和射擊準確性。</a:t>
            </a:r>
          </a:p>
          <a:p>
            <a:pPr>
              <a:lnSpc>
                <a:spcPct val="160000"/>
              </a:lnSpc>
            </a:pPr>
            <a:r>
              <a:rPr lang="zh-TW" altLang="en-US" b="1" dirty="0"/>
              <a:t>驗收條件：</a:t>
            </a:r>
            <a:endParaRPr lang="zh-TW" altLang="en-US" dirty="0"/>
          </a:p>
          <a:p>
            <a:pPr lvl="1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en-US" b="1" dirty="0"/>
              <a:t>發射準確性</a:t>
            </a:r>
            <a:r>
              <a:rPr lang="zh-TW" altLang="en-US" dirty="0"/>
              <a:t>：砲彈發射後應準確命中目標，偏差應控制在可接受範圍內。砲彈應符合射擊角度與方向的設置。</a:t>
            </a:r>
          </a:p>
          <a:p>
            <a:pPr lvl="1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en-US" b="1" dirty="0"/>
              <a:t>反應時間</a:t>
            </a:r>
            <a:r>
              <a:rPr lang="zh-TW" altLang="en-US" dirty="0"/>
              <a:t>：發射命令應立即生效，砲彈應在指令下達後瞬間發射，無延遲。</a:t>
            </a:r>
          </a:p>
          <a:p>
            <a:pPr lvl="1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en-US" b="1" dirty="0"/>
              <a:t>射程與彈道</a:t>
            </a:r>
            <a:r>
              <a:rPr lang="zh-TW" altLang="en-US" dirty="0"/>
              <a:t>：砲彈的射程應符合設計要求，做出合理的物理模擬。</a:t>
            </a:r>
          </a:p>
          <a:p>
            <a:pPr lvl="1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en-US" b="1" dirty="0"/>
              <a:t>重複射擊能力</a:t>
            </a:r>
            <a:r>
              <a:rPr lang="zh-TW" altLang="en-US" dirty="0"/>
              <a:t>：坦克車應能夠在短時間內重新準備發射砲彈，無卡頓或故障現象。</a:t>
            </a:r>
          </a:p>
          <a:p>
            <a:pPr>
              <a:lnSpc>
                <a:spcPct val="160000"/>
              </a:lnSpc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53047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80660B-82B9-420D-AA27-3D0FB675B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 </a:t>
            </a:r>
            <a:r>
              <a:rPr lang="zh-TW" altLang="en-US" b="1" dirty="0"/>
              <a:t>閃躲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F64169E-246D-4286-BFBB-4D75CACB6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zh-TW" altLang="en-US" b="1" dirty="0"/>
              <a:t>功能描述：</a:t>
            </a:r>
            <a:br>
              <a:rPr lang="zh-TW" altLang="en-US" dirty="0"/>
            </a:br>
            <a:r>
              <a:rPr lang="zh-TW" altLang="en-US" dirty="0"/>
              <a:t>坦克車能夠進行閃躲操作，迅速改變位置或角度以避免敵方攻擊或障礙。</a:t>
            </a:r>
          </a:p>
          <a:p>
            <a:pPr>
              <a:lnSpc>
                <a:spcPct val="150000"/>
              </a:lnSpc>
            </a:pPr>
            <a:r>
              <a:rPr lang="zh-TW" altLang="en-US" b="1" dirty="0"/>
              <a:t>驗收條件：</a:t>
            </a:r>
            <a:endParaRPr lang="zh-TW" altLang="en-US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/>
              <a:t>反應速度</a:t>
            </a:r>
            <a:r>
              <a:rPr lang="zh-TW" altLang="en-US" dirty="0"/>
              <a:t>：閃躲操作應迅速而準確，坦克車應能夠在敵方攻擊到來之前做出反應。操作延遲應在可接受範圍內（例如</a:t>
            </a:r>
            <a:r>
              <a:rPr lang="en-US" altLang="zh-TW" dirty="0"/>
              <a:t>1-2</a:t>
            </a:r>
            <a:r>
              <a:rPr lang="zh-TW" altLang="en-US" dirty="0"/>
              <a:t>秒內完成）。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/>
              <a:t>閃躲靈活性</a:t>
            </a:r>
            <a:r>
              <a:rPr lang="zh-TW" altLang="en-US" dirty="0"/>
              <a:t>：閃躲應能夠有效改變坦克車的相對位置或角度，避開敵人攻擊或障礙，並且不會使坦克車偏離預定的行駛路徑。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/>
              <a:t>穩定性</a:t>
            </a:r>
            <a:r>
              <a:rPr lang="zh-TW" altLang="en-US" dirty="0"/>
              <a:t>：在進行閃躲操作時，坦克車應保持穩定，避免因操作而造成車輛無法控制。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/>
              <a:t>適應性</a:t>
            </a:r>
            <a:r>
              <a:rPr lang="zh-TW" altLang="en-US" dirty="0"/>
              <a:t>：閃躲功能應根據不同的環境和敵方攻擊方式自動調整，適應不同的情況。</a:t>
            </a:r>
          </a:p>
          <a:p>
            <a:pPr>
              <a:lnSpc>
                <a:spcPct val="150000"/>
              </a:lnSpc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29330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BE881C-97D5-47E9-B14B-85834631F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4. </a:t>
            </a:r>
            <a:r>
              <a:rPr lang="zh-TW" altLang="en-US" b="1" dirty="0"/>
              <a:t>追蹤燃油或彈藥箱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3B2610C-6D74-449B-ADC0-BB0A32D93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70000"/>
              </a:lnSpc>
            </a:pPr>
            <a:r>
              <a:rPr lang="zh-TW" altLang="en-US" b="1" dirty="0"/>
              <a:t>功能描述：</a:t>
            </a:r>
            <a:br>
              <a:rPr lang="zh-TW" altLang="en-US" dirty="0"/>
            </a:br>
            <a:r>
              <a:rPr lang="zh-TW" altLang="en-US" dirty="0"/>
              <a:t>坦克車能夠自動追蹤並前往指定的燃油或彈藥箱，進行補給。</a:t>
            </a:r>
          </a:p>
          <a:p>
            <a:pPr>
              <a:lnSpc>
                <a:spcPct val="170000"/>
              </a:lnSpc>
            </a:pPr>
            <a:r>
              <a:rPr lang="zh-TW" altLang="en-US" b="1" dirty="0"/>
              <a:t>驗收條件：</a:t>
            </a:r>
            <a:endParaRPr lang="zh-TW" altLang="en-US" dirty="0"/>
          </a:p>
          <a:p>
            <a:pPr lvl="1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TW" altLang="en-US" b="1" dirty="0"/>
              <a:t>追蹤準確性</a:t>
            </a:r>
            <a:r>
              <a:rPr lang="zh-TW" altLang="en-US" dirty="0"/>
              <a:t>：坦克車應能夠準確識別並自動追蹤燃油或彈藥箱的位置。當燃油或彈藥箱移動時，坦克車應能夠自動調整路徑，繼續追蹤目標。</a:t>
            </a:r>
          </a:p>
          <a:p>
            <a:pPr lvl="1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TW" altLang="en-US" b="1" dirty="0"/>
              <a:t>導航穩定性</a:t>
            </a:r>
            <a:r>
              <a:rPr lang="zh-TW" altLang="en-US" dirty="0"/>
              <a:t>：坦克車應能夠在順利行駛並找到補給箱。無論是平坦地面或障礙物區域，坦克車應能順利避開障礙並進行導航。</a:t>
            </a:r>
          </a:p>
          <a:p>
            <a:pPr lvl="1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TW" altLang="en-US" b="1" dirty="0"/>
              <a:t>反應速度</a:t>
            </a:r>
            <a:r>
              <a:rPr lang="zh-TW" altLang="en-US" dirty="0"/>
              <a:t>：當燃油或彈藥箱的位置變動時，坦克車應能及時做出調整，追蹤速度不應有明顯延遲。</a:t>
            </a:r>
          </a:p>
          <a:p>
            <a:pPr lvl="1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TW" altLang="en-US" b="1" dirty="0"/>
              <a:t>補給準確性</a:t>
            </a:r>
            <a:r>
              <a:rPr lang="zh-TW" altLang="en-US" dirty="0"/>
              <a:t>：一旦坦克車到達補給箱附近，應能夠準確完成補給操作（如加油或彈藥補充），過程應無錯誤或延誤。</a:t>
            </a:r>
          </a:p>
          <a:p>
            <a:pPr>
              <a:lnSpc>
                <a:spcPct val="170000"/>
              </a:lnSpc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34217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476B69-8BE2-3A1C-DFBE-9DE99623A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遊玩畫面</a:t>
            </a:r>
          </a:p>
        </p:txBody>
      </p:sp>
      <p:pic>
        <p:nvPicPr>
          <p:cNvPr id="4" name="坦克大戰 - Green vs Blue 2025-12-11 13-31-47">
            <a:hlinkClick r:id="" action="ppaction://media"/>
            <a:extLst>
              <a:ext uri="{FF2B5EF4-FFF2-40B4-BE49-F238E27FC236}">
                <a16:creationId xmlns:a16="http://schemas.microsoft.com/office/drawing/2014/main" id="{BD643EC8-BDBB-C75A-A7E2-ACF0B8C0B9F1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550636" y="2011725"/>
            <a:ext cx="7151688" cy="4022725"/>
          </a:xfrm>
        </p:spPr>
      </p:pic>
    </p:spTree>
    <p:extLst>
      <p:ext uri="{BB962C8B-B14F-4D97-AF65-F5344CB8AC3E}">
        <p14:creationId xmlns:p14="http://schemas.microsoft.com/office/powerpoint/2010/main" val="3379977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54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回顧">
  <a:themeElements>
    <a:clrScheme name="回顧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369</TotalTime>
  <Words>820</Words>
  <Application>Microsoft Office PowerPoint</Application>
  <PresentationFormat>寬螢幕</PresentationFormat>
  <Paragraphs>80</Paragraphs>
  <Slides>11</Slides>
  <Notes>0</Notes>
  <HiddenSlides>0</HiddenSlides>
  <MMClips>1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Cambria Math</vt:lpstr>
      <vt:lpstr>Roboto</vt:lpstr>
      <vt:lpstr>Times New Roman</vt:lpstr>
      <vt:lpstr>回顧</vt:lpstr>
      <vt:lpstr>Tank Fighting</vt:lpstr>
      <vt:lpstr>需求</vt:lpstr>
      <vt:lpstr>介面</vt:lpstr>
      <vt:lpstr>Breakdown</vt:lpstr>
      <vt:lpstr>Model</vt:lpstr>
      <vt:lpstr>驗收</vt:lpstr>
      <vt:lpstr>1. 控制坦克車進行移動</vt:lpstr>
      <vt:lpstr>2. 能發射砲彈</vt:lpstr>
      <vt:lpstr>3. 閃躲</vt:lpstr>
      <vt:lpstr>4. 追蹤燃油或彈藥箱</vt:lpstr>
      <vt:lpstr>遊玩畫面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Tank Fighting</dc:title>
  <dc:creator>F113112134</dc:creator>
  <cp:lastModifiedBy>Yuan Kang</cp:lastModifiedBy>
  <cp:revision>15</cp:revision>
  <dcterms:created xsi:type="dcterms:W3CDTF">2025-11-19T08:04:07Z</dcterms:created>
  <dcterms:modified xsi:type="dcterms:W3CDTF">2025-12-11T06:05:33Z</dcterms:modified>
</cp:coreProperties>
</file>